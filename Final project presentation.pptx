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4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C76F-7338-9142-2856-9981DD234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25691-735A-7323-17E1-792276B9A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B462B-0521-316D-0BE5-C4ED7F24B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4DC7-9CA0-C546-88A1-8EFFB168C31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680B5-BD23-26D4-75A5-514DA4EE3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4BAF1-EC7A-88ED-F124-2D452EDE3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C1DBA-E8BF-444C-95CD-FF6EE8BCF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4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B708-0774-2480-62CB-F93EE0981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57AE7-15DC-0491-7E0F-F834D872E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74BDE-F934-4F6F-2A74-1904AD28B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4DC7-9CA0-C546-88A1-8EFFB168C31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C3045-99D1-68BD-5025-D50BD85D9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C7DA7-C837-376F-46D5-D7E63282B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C1DBA-E8BF-444C-95CD-FF6EE8BCF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3C27-4812-400F-CCA8-36DBD2F2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927F0-0412-08C7-26F4-ABDA6C4F5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AE7D5-BE74-DF15-FEF4-1777B0B10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4DC7-9CA0-C546-88A1-8EFFB168C31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D8F51-8707-6395-BA9A-61BF9782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5D8DB-FCB4-1CC6-8581-09690042B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C1DBA-E8BF-444C-95CD-FF6EE8BCF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25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B3A8-01DD-884D-A54B-CA1FDDBAF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DB9DE-9942-4FBD-7170-DDF78E38C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E1E70-AAAB-D0C5-BBE7-DD0410683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DB6A9-4A4E-153E-D629-5FBEC66E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4DC7-9CA0-C546-88A1-8EFFB168C31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4A06F-7A83-6627-E1DC-D63D1B48B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821AB-861F-A9A2-87EC-05D6B0FA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C1DBA-E8BF-444C-95CD-FF6EE8BCF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3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DABE1-0A5F-5ACD-8EF9-05F77FBEC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2F2F4-A9C1-D74A-2BE4-BC19A2AE4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C086D-396A-5B59-7D79-9804D5E72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8A963-70B3-4A7E-8E92-D3F25F69B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7443A-C677-7EDC-ACC9-D21A8525C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22E71B-C553-A933-4CC7-253ACAAD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4DC7-9CA0-C546-88A1-8EFFB168C31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F9AA5-41A8-7059-1A29-909091F45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68DF8C-FA0A-8AA5-0AB6-B28A96CC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C1DBA-E8BF-444C-95CD-FF6EE8BCF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4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83032-4347-2268-9892-E78F67A0B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803996-B00B-65F6-B472-B77C47B00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4DC7-9CA0-C546-88A1-8EFFB168C31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AD0D0-202A-5D76-2622-DC10C44B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F6549-C4CA-B67E-DF27-71C8AB2F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C1DBA-E8BF-444C-95CD-FF6EE8BCF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3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58347A-EF47-3A7E-F945-79762EAE1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4DC7-9CA0-C546-88A1-8EFFB168C31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069DAF-94AB-0181-5900-16013684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D89C7-678A-A653-F4B5-762731D92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C1DBA-E8BF-444C-95CD-FF6EE8BCF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6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0AAA-0F26-C49E-8858-8E08D8AB7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0639-99F8-7D63-ED6D-D0BCCDA01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D70AE-BC4A-8586-07DB-3191675F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ECFA8-49A2-0DA9-47AE-6724E87FA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4DC7-9CA0-C546-88A1-8EFFB168C31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E29F1-D5E6-93FB-00AD-234450E8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1164A-6172-9C40-06EA-D9B2F47E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C1DBA-E8BF-444C-95CD-FF6EE8BCF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30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41978-E869-E651-F8D3-10B428C0A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699341-3B73-ECE9-673F-E7AE7C8E6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CCCF3-2330-3BB8-EBD5-65BE64FBB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7A2F7-AE21-1522-115D-9F647B3E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4DC7-9CA0-C546-88A1-8EFFB168C31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33D22-0457-F1C2-CD52-DB8EBC7FF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EB94B-89E8-F577-93B2-6E46658EB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C1DBA-E8BF-444C-95CD-FF6EE8BCF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3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201D9-C496-027E-FC04-52533424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BAA3E-A8FC-A919-52CF-04BBBDD6B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5D744-B413-3ECA-50E6-CFC8D723C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4DC7-9CA0-C546-88A1-8EFFB168C31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E5A30-B386-1A25-BDE3-884E2A65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6AF82-1D38-AEB5-57E0-79AF4058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C1DBA-E8BF-444C-95CD-FF6EE8BCF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2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C73BDA-5822-12AC-D004-A04A58ABEA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550D5-77D4-02B8-ECDB-BA1D96903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BB30C-B0C5-887F-2786-B1652731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4DC7-9CA0-C546-88A1-8EFFB168C31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EB5D7-E35F-0264-FA7A-B9835489D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4F6B2-6054-30C8-FA21-628C4ECC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C1DBA-E8BF-444C-95CD-FF6EE8BCF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45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C9231-0594-FEF9-C2D2-C8B41D92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04010-DCFE-E129-12AD-DE8B1AC88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5D53A-F81F-4A97-E62F-9F491DAEF6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D34DC7-9CA0-C546-88A1-8EFFB168C31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B21BA-34F6-D2A9-16B9-06F31AFCA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5B330-1A97-B1FA-1445-B68DBF86E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C1DBA-E8BF-444C-95CD-FF6EE8BCF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61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7D625-AAEE-6634-64A6-23CB63243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973" y="838586"/>
            <a:ext cx="10205544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Merton’s Jump-Diffusion model: Delta hedging and model calibration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F3B5D-B9A3-CA12-A00A-446457C7D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2244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US" sz="3500" dirty="0"/>
              <a:t>Pranava C Jayanti</a:t>
            </a:r>
          </a:p>
          <a:p>
            <a:endParaRPr lang="en-US" dirty="0"/>
          </a:p>
          <a:p>
            <a:r>
              <a:rPr lang="en-US" dirty="0"/>
              <a:t>Quant Finance Bootcamp (Fall 2025)</a:t>
            </a:r>
          </a:p>
          <a:p>
            <a:r>
              <a:rPr lang="en-US" dirty="0"/>
              <a:t>The Erdòs Institute</a:t>
            </a:r>
          </a:p>
        </p:txBody>
      </p:sp>
    </p:spTree>
    <p:extLst>
      <p:ext uri="{BB962C8B-B14F-4D97-AF65-F5344CB8AC3E}">
        <p14:creationId xmlns:p14="http://schemas.microsoft.com/office/powerpoint/2010/main" val="260102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21C8-B5EF-B74B-55F5-BB8F598B1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961"/>
            <a:ext cx="10515600" cy="822544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Merton’s Jump-Diffusion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83643C-E83F-D1C5-079F-DD396CEB787E}"/>
              </a:ext>
            </a:extLst>
          </p:cNvPr>
          <p:cNvSpPr txBox="1"/>
          <p:nvPr/>
        </p:nvSpPr>
        <p:spPr>
          <a:xfrm>
            <a:off x="1087901" y="2065878"/>
            <a:ext cx="100161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Asset pricing model involving Geometric Brownian Motion with “kicks” to describe sudden market crashes/shocks.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Drift-Diffusion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The standard GBM smooth path.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Jump process: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 random Poisson process that models the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frequency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λ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and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(α,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of sudden price jumps.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MJD provides a much more realistic simulation of asset prices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F8EA7-A45D-CCCB-5710-C20E48D9E085}"/>
                  </a:ext>
                </a:extLst>
              </p:cNvPr>
              <p:cNvSpPr txBox="1"/>
              <p:nvPr/>
            </p:nvSpPr>
            <p:spPr>
              <a:xfrm>
                <a:off x="2154621" y="1307178"/>
                <a:ext cx="7128042" cy="5755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F8EA7-A45D-CCCB-5710-C20E48D9E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621" y="1307178"/>
                <a:ext cx="7128042" cy="5755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2AF720-A537-A396-8D77-478991ECB918}"/>
                  </a:ext>
                </a:extLst>
              </p:cNvPr>
              <p:cNvSpPr txBox="1"/>
              <p:nvPr/>
            </p:nvSpPr>
            <p:spPr>
              <a:xfrm>
                <a:off x="1274418" y="5555776"/>
                <a:ext cx="9643161" cy="83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2AF720-A537-A396-8D77-478991ECB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418" y="5555776"/>
                <a:ext cx="9643161" cy="8301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025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FB2E162-7BF4-B4C8-D70F-AEDD6A6CD3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68173"/>
                <a:ext cx="10515600" cy="807819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4000" dirty="0"/>
                  <a:t>MJD vs GBM: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4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4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endParaRPr lang="en-US" sz="40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FB2E162-7BF4-B4C8-D70F-AEDD6A6CD3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68173"/>
                <a:ext cx="10515600" cy="807819"/>
              </a:xfrm>
              <a:blipFill>
                <a:blip r:embed="rId2"/>
                <a:stretch>
                  <a:fillRect t="-12500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270B390-89FC-B301-F6B0-2CD528291D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5192" y="1123135"/>
            <a:ext cx="5857747" cy="4924614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BB778070-CEEF-9049-18F4-F1B35BEB1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638" y="1263840"/>
            <a:ext cx="5766198" cy="465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9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111E2-F110-CAC6-C15C-5A322D89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410"/>
            <a:ext cx="10515600" cy="66488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MJD and Delta Hedging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B65D7C2-CA1C-EAB1-0325-4AB5A9F53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160" y="840829"/>
            <a:ext cx="3672065" cy="29484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D1CFE5-0D66-F4DD-A72C-A052482A8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526" y="840829"/>
            <a:ext cx="7052673" cy="5684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DC1B74-3DB5-6A19-1496-ACCB09050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115891"/>
            <a:ext cx="3376025" cy="256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1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11CE-C05A-BC45-3F11-56CA91020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486"/>
            <a:ext cx="10515600" cy="75948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Calibration and </a:t>
            </a:r>
            <a:r>
              <a:rPr lang="en-US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Backtesting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 to market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3E94B5-456C-21BA-F5DB-AB01FBCBC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294" y="1469997"/>
            <a:ext cx="5901057" cy="4800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0F6983-0C47-46E3-A6B5-0E95E414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248" y="1560765"/>
            <a:ext cx="5539438" cy="46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81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038A-CACB-9A08-9463-24E48917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025"/>
            <a:ext cx="10515600" cy="780503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Conclusions &amp; Hedging Implications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B56994-2C31-EB5F-369D-F25DBE646E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9568" y="1465644"/>
            <a:ext cx="989286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0000"/>
              </a:lnSpc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Pricing: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MJD is a superior model for pricing European options as it successfully captures the volatility smile, which is a persistent feature of real markets.</a:t>
            </a:r>
          </a:p>
          <a:p>
            <a:pPr algn="just">
              <a:lnSpc>
                <a:spcPct val="100000"/>
              </a:lnSpc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Prediction: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The model demonstrates strong predictive power, accurately pricing unseen put options after being trained only on calls.</a:t>
            </a:r>
          </a:p>
          <a:p>
            <a:pPr algn="just">
              <a:lnSpc>
                <a:spcPct val="100000"/>
              </a:lnSpc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Hedging: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1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While Delta hedging is possible, it is 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imperfect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under MJD.</a:t>
            </a:r>
          </a:p>
          <a:p>
            <a:pPr marR="0" lvl="1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model's "jump risk" is systemic and cannot be hedged away simply by trading the underlying asset.</a:t>
            </a:r>
          </a:p>
          <a:p>
            <a:pPr marR="0" lvl="1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Provides a theoretical explanation for why real-world "delta-neutral" portfolios still experience large, sudden losses and gains (i.e., "fat tails").</a:t>
            </a:r>
          </a:p>
          <a:p>
            <a:pPr algn="just">
              <a:lnSpc>
                <a:spcPct val="100000"/>
              </a:lnSpc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282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241</Words>
  <Application>Microsoft Macintosh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Cambria Math</vt:lpstr>
      <vt:lpstr>Courier New</vt:lpstr>
      <vt:lpstr>Office Theme</vt:lpstr>
      <vt:lpstr>Merton’s Jump-Diffusion model: Delta hedging and model calibration</vt:lpstr>
      <vt:lpstr>Merton’s Jump-Diffusion model</vt:lpstr>
      <vt:lpstr>MJD vs GBM: S_t and Δ_(C_0 )</vt:lpstr>
      <vt:lpstr>MJD and Delta Hedging</vt:lpstr>
      <vt:lpstr>Calibration and Backtesting to market data</vt:lpstr>
      <vt:lpstr>Conclusions &amp; Hedging Implications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Pamuru</dc:creator>
  <cp:lastModifiedBy>Sai Pamuru</cp:lastModifiedBy>
  <cp:revision>7</cp:revision>
  <dcterms:created xsi:type="dcterms:W3CDTF">2025-11-08T05:00:38Z</dcterms:created>
  <dcterms:modified xsi:type="dcterms:W3CDTF">2025-11-08T05:38:54Z</dcterms:modified>
</cp:coreProperties>
</file>